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E715EC-EF3B-4B42-8F37-35DB8B42AFCD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343080"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343080"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34308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343080"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343080"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343080"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36D185B-725B-4304-9ACC-3DD13BDC94CA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05920"/>
            <a:ext cx="2057040" cy="438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05920"/>
            <a:ext cx="6019560" cy="438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0E758C-F2AF-4877-9D5B-82EDBEF43D26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DA5325-846B-4B43-891F-DF99B3145742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3080">
              <a:lnSpc>
                <a:spcPct val="100000"/>
              </a:lnSpc>
              <a:buNone/>
              <a:def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buNone/>
            </a:pPr>
            <a:r>
              <a: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180160"/>
            <a:ext cx="7772040" cy="112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lang="en-US" sz="15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5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E7097A-5CE5-4860-8478-BC2D91AA9FD6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1E34A9-FAEE-40A4-994C-D49293FE273D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920" cy="47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9920" cy="296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360" cy="47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1631160"/>
            <a:ext cx="4041360" cy="296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6018DC-63CC-480C-B72F-500D92980E46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5C1F14-1D6F-40BD-94E7-212615E37E38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CA6AD7-4444-4F06-932F-84FAB63F4B7D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buNone/>
              <a:def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04840"/>
            <a:ext cx="5111280" cy="438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  <a:def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404F363-1D50-486B-B16D-0BECBDF11781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3600360"/>
            <a:ext cx="5486040" cy="4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buNone/>
              <a:def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459720"/>
            <a:ext cx="5486040" cy="308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343080">
              <a:spcBef>
                <a:spcPts val="21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343080">
              <a:spcBef>
                <a:spcPts val="21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lvl="1" algn="l" defTabSz="34308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2" algn="l" defTabSz="343080"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3" algn="l" defTabSz="343080"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4" algn="l" defTabSz="343080"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5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6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4025520"/>
            <a:ext cx="5486040" cy="60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  <a:def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BCCE8B-9E33-4706-B870-162074C097EE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Do Price and Volume Signals Predict Short-Term Stock Outperformance?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371600" y="2914560"/>
            <a:ext cx="6400440" cy="131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DATA 498D Capstone Project</a:t>
            </a:r>
            <a:br>
              <a:rPr sz="2400"/>
            </a:br>
            <a:br>
              <a:rPr sz="2400"/>
            </a:br>
            <a:endParaRPr lang="en-U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Research Question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Can historical price and volume patterns predict which U.S. stocks and ETFs will rank in the top 20% of future five-day returns?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Why this matters: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Investors often use technical signals.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Many apparent market patterns are weak or unstable.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rigorous data science workflow can test signal vs. noise.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Kaggle Huge Stock Market Dataset: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17,078 stock and ETF price files in the downloaded archive.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Daily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Open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High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Low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Close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and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Volume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Prices adjusted for dividends and splits.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Main analysis uses a liquid universe of major stocks and ETFs.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Final cleaned analysis: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1,412,252 raw rows loaded.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230 assets retained after filters.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679,803 model-ready asset-date rows.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Modeling Frame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We predict a cross-sectional target: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 asset is labeled positive if its future five-day return ranks in the top 20% among all assets on the same date.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Leakage controls: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Features use only information available at date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Future return target uses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t + 5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Train, validation, and test sets are split by time.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Feature Groups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10760" y="90000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Momentum: 1, 5, 21, and 63-day trailing returns.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Risk: rolling volatility and 63-day drawdown.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Volume: volume ratio and volume z-score.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Liquidity: log dollar volume.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Price behavior: daily range, gap return, open-to-close return.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Market context: SPY return and volatility when available.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Daily Returns Are Noisy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1" name="Picture 1" descr="../figures/eda_returns_distribution.png"/>
          <p:cNvPicPr/>
          <p:nvPr/>
        </p:nvPicPr>
        <p:blipFill>
          <a:blip r:embed="rId1"/>
          <a:stretch/>
        </p:blipFill>
        <p:spPr>
          <a:xfrm>
            <a:off x="2260440" y="1193760"/>
            <a:ext cx="4609800" cy="2882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2" name="TextBox 3"/>
          <p:cNvSpPr/>
          <p:nvPr/>
        </p:nvSpPr>
        <p:spPr>
          <a:xfrm>
            <a:off x="457200" y="4076640"/>
            <a:ext cx="82292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Distribution of daily returns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Momentum Test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Picture 1" descr="../figures/momentum_quintiles.png"/>
          <p:cNvPicPr/>
          <p:nvPr/>
        </p:nvPicPr>
        <p:blipFill>
          <a:blip r:embed="rId1"/>
          <a:stretch/>
        </p:blipFill>
        <p:spPr>
          <a:xfrm>
            <a:off x="4500000" y="1194120"/>
            <a:ext cx="4609800" cy="2882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5" name="TextBox 3"/>
          <p:cNvSpPr/>
          <p:nvPr/>
        </p:nvSpPr>
        <p:spPr>
          <a:xfrm>
            <a:off x="4860000" y="4076640"/>
            <a:ext cx="38264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Future return by momentum quintile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180000" y="1105920"/>
            <a:ext cx="4320000" cy="375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lowest past-momentum quintile had the highest average future five-day return, suggesting short-term reversal was stronger than continuation momentum in this universe.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Model Results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8" name="Picture 1" descr="../figures/model_comparison.png"/>
          <p:cNvPicPr/>
          <p:nvPr/>
        </p:nvPicPr>
        <p:blipFill>
          <a:blip r:embed="rId1"/>
          <a:stretch/>
        </p:blipFill>
        <p:spPr>
          <a:xfrm>
            <a:off x="4390200" y="1193760"/>
            <a:ext cx="4609800" cy="2882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9" name="TextBox 3"/>
          <p:cNvSpPr/>
          <p:nvPr/>
        </p:nvSpPr>
        <p:spPr>
          <a:xfrm>
            <a:off x="4500000" y="4076640"/>
            <a:ext cx="45000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Model comparison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50760" y="1260000"/>
            <a:ext cx="4629240" cy="314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Test ROC-AUC: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Logistic regression: 0.628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Histogram gradient boosting: 0.635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Random benchmark would be about 0.500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Backtest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2" name="Picture 1" descr="../figures/backtest_cumulative_returns.png"/>
          <p:cNvPicPr/>
          <p:nvPr/>
        </p:nvPicPr>
        <p:blipFill>
          <a:blip r:embed="rId1"/>
          <a:stretch/>
        </p:blipFill>
        <p:spPr>
          <a:xfrm>
            <a:off x="3780000" y="1190160"/>
            <a:ext cx="5194080" cy="2882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3" name="TextBox 3"/>
          <p:cNvSpPr/>
          <p:nvPr/>
        </p:nvSpPr>
        <p:spPr>
          <a:xfrm>
            <a:off x="4680000" y="4076640"/>
            <a:ext cx="40064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Backtest cumulative returns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0" y="1190160"/>
            <a:ext cx="426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Strategy: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Rank assets by predicted probability.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Select top 25.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Equal-weight portfolio.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Subtract 0.10% transaction cost.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Feature Importance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6" name="Picture 1" descr="../figures/feature_importance.png"/>
          <p:cNvPicPr/>
          <p:nvPr/>
        </p:nvPicPr>
        <p:blipFill>
          <a:blip r:embed="rId1"/>
          <a:stretch/>
        </p:blipFill>
        <p:spPr>
          <a:xfrm>
            <a:off x="5040000" y="1193760"/>
            <a:ext cx="3847680" cy="2882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7" name="TextBox 3"/>
          <p:cNvSpPr/>
          <p:nvPr/>
        </p:nvSpPr>
        <p:spPr>
          <a:xfrm>
            <a:off x="5580000" y="4076640"/>
            <a:ext cx="31064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Feature importance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080000"/>
            <a:ext cx="3862800" cy="351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most important signals were market volatility, drawdown, rolling volatility, moving-average distance, and daily range.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Main Conclusion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Price and volume signals contain weak but measurable information about short-term relative performance.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But the project does not show an easy path to guaranteed trading profit: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Predictive signal is modest.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Active strategies had high volatility and large drawdowns.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market benchmark had the best Sharpe ratio.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Transaction costs and risk matter.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Limitations and Next Steps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Limitations: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Dataset ends in 2017.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Possible survivorship bias.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 fundamentals, sectors, macro data, or news.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Simplified transaction costs.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Next steps: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Add fundamentals and sector labels.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Update through current data.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Test walk-forward retraining.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Compare stocks and ETFs separately.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LibreOffice/26.2.3.2$MacOSX_AARCH64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2026-05-02T17:44:19Z</dcterms:created>
  <dc:creator/>
  <dc:description/>
  <dc:language>zh-CN</dc:language>
  <cp:lastModifiedBy/>
  <dcterms:modified xsi:type="dcterms:W3CDTF">2026-05-03T21:53:22Z</dcterms:modified>
  <cp:revision>1</cp:revision>
  <dc:subject/>
  <dc:title>Do Price and Volume Signals Predict Short-Term Stock Outperformance?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DATA 498D Capstone Project</vt:lpwstr>
  </property>
</Properties>
</file>