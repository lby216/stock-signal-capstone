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290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290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E715EC-EF3B-4B42-8F37-35DB8B42AFC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342900"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spcBef>
                <a:spcPts val="36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spcBef>
                <a:spcPts val="3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2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2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2900" indent="-342900" algn="l" defTabSz="342900"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235" lvl="1" indent="-323850" algn="l" defTabSz="34290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35" lvl="2" indent="-288290" algn="l" defTabSz="342900">
              <a:spcBef>
                <a:spcPts val="36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7835" lvl="3" indent="-215900" algn="l" defTabSz="34290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270" lvl="4" indent="-215900" algn="l" defTabSz="342900">
              <a:spcBef>
                <a:spcPts val="3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70" lvl="5" indent="-215900" algn="l" defTabSz="342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3870" lvl="6" indent="-215900" algn="l" defTabSz="342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290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290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2900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700" lvl="2" indent="-342900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500" lvl="4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6D185B-725B-4304-9ACC-3DD13BDC94C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34290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290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2900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700" lvl="2" indent="-342900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500" lvl="4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0E758C-F2AF-4877-9D5B-82EDBEF43D2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290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290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2900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700" lvl="2" indent="-342900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500" lvl="4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DA5325-846B-4B43-891F-DF99B314574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290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290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29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29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E7097A-5CE5-4860-8478-BC2D91AA9FD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290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290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2900" indent="-342900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2900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700" lvl="2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2900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500" lvl="4" indent="-342900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2900" indent="-342900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2900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700" lvl="2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2900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500" lvl="4" indent="-342900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1E34A9-FAEE-40A4-994C-D49293FE273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290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290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90204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90204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2900" indent="-342900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700" lvl="2" indent="-342900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2900" algn="l" defTabSz="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90204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500" lvl="4" indent="-342900" algn="l" defTabSz="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90204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29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90204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90204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2900" indent="-342900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700" lvl="2" indent="-342900" algn="l" defTabSz="342900">
              <a:lnSpc>
                <a:spcPct val="100000"/>
              </a:lnSpc>
              <a:spcBef>
                <a:spcPts val="27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2900" algn="l" defTabSz="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90204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500" lvl="4" indent="-342900" algn="l" defTabSz="342900">
              <a:lnSpc>
                <a:spcPct val="100000"/>
              </a:lnSpc>
              <a:spcBef>
                <a:spcPts val="240"/>
              </a:spcBef>
              <a:buClr>
                <a:srgbClr val="000000"/>
              </a:buClr>
              <a:buFont typeface="Arial" panose="020B0604020202090204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6018DC-63CC-480C-B72F-500D92980E4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290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290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5C1F14-1D6F-40BD-94E7-212615E37E38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CA6AD7-4444-4F06-932F-84FAB63F4B7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290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290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2900" algn="l" defTabSz="34290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700" lvl="2" indent="-342900" algn="l" defTabSz="3429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500" lvl="4" indent="-342900" algn="l" defTabSz="3429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 panose="020B0604020202090204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290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290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04F363-1D50-486B-B16D-0BECBDF11781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290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290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 hasCustomPrompt="1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42900">
              <a:spcBef>
                <a:spcPts val="21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290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2900">
              <a:spcBef>
                <a:spcPts val="36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290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2900">
              <a:spcBef>
                <a:spcPts val="3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2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2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342900">
              <a:spcBef>
                <a:spcPts val="21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lvl="1" algn="l" defTabSz="34290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algn="l" defTabSz="342900">
              <a:spcBef>
                <a:spcPts val="36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700" lvl="3" algn="l" defTabSz="34290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algn="l" defTabSz="342900">
              <a:spcBef>
                <a:spcPts val="3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500" lvl="5" algn="l" defTabSz="342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algn="l" defTabSz="342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290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290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 panose="0202050305040509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BCCE8B-9E33-4706-B870-162074C097E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50305040509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 Price and Volume Signals Predict Short-Term Stock Outperformance?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DATA 498D Capstone Project</a:t>
            </a:r>
            <a:br>
              <a:rPr sz="2400"/>
            </a:br>
            <a:br>
              <a:rPr sz="2400"/>
            </a:b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Question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Can historical price and volume patterns predict which U.S. stocks and ETFs will rank in the top 20% of future five-day returns?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this matters: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Investors often use technical signals.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Many apparent market patterns are weak or unstable.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rigorous data science workflow can test signal vs. noise.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0150"/>
            <a:ext cx="5782310" cy="351599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Kaggle Huge Stock Market Dataset: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17,078 stock and ETF price files in the downloaded archive.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Daily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 panose="02070409020205090404"/>
              </a:rPr>
              <a:t>Open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 panose="02070409020205090404"/>
              </a:rPr>
              <a:t>High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 panose="02070409020205090404"/>
              </a:rPr>
              <a:t>Low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 panose="02070409020205090404"/>
              </a:rPr>
              <a:t>Close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and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 panose="02070409020205090404"/>
              </a:rPr>
              <a:t>Volume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Prices adjusted for dividends and splits.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analysis uses a liquid universe of major stocks and ETFs.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28080" y="1200150"/>
            <a:ext cx="2934335" cy="3111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>
                <a:solidFill>
                  <a:schemeClr val="dk1"/>
                </a:solidFill>
                <a:effectLst/>
                <a:uFillTx/>
                <a:latin typeface="Calibri"/>
                <a:sym typeface="+mn-ea"/>
              </a:rPr>
              <a:t>Final cleaned analysis: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000">
                <a:solidFill>
                  <a:srgbClr val="FF0000"/>
                </a:solidFill>
                <a:effectLst/>
                <a:uFillTx/>
                <a:latin typeface="Calibri"/>
                <a:sym typeface="+mn-ea"/>
              </a:rPr>
              <a:t>1,412,252 raw rows loaded.</a:t>
            </a:r>
            <a:endParaRPr lang="en-US" sz="2000" b="0" u="none" strike="noStrike">
              <a:solidFill>
                <a:srgbClr val="FF0000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000">
                <a:solidFill>
                  <a:srgbClr val="FF0000"/>
                </a:solidFill>
                <a:effectLst/>
                <a:uFillTx/>
                <a:latin typeface="Calibri"/>
                <a:sym typeface="+mn-ea"/>
              </a:rPr>
              <a:t>230 assets retained after filters.</a:t>
            </a:r>
            <a:endParaRPr lang="en-US" sz="2000" b="0" u="none" strike="noStrike">
              <a:solidFill>
                <a:srgbClr val="FF0000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000">
                <a:solidFill>
                  <a:srgbClr val="FF0000"/>
                </a:solidFill>
                <a:effectLst/>
                <a:uFillTx/>
                <a:latin typeface="Calibri"/>
                <a:sym typeface="+mn-ea"/>
              </a:rPr>
              <a:t>679,803 model-ready asset-date rows.</a:t>
            </a:r>
            <a:endParaRPr lang="en-US" altLang="en-US" sz="2000">
              <a:solidFill>
                <a:srgbClr val="FF0000"/>
              </a:solidFill>
              <a:effectLst/>
              <a:uFillTx/>
              <a:latin typeface="Calibri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Modeling Frame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predict a cross-sectional target: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 asset is labeled positive if its future five-day return ranks in the top 20% among all assets on the same date.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Leakage controls: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Features use only information available at date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 panose="02070409020205090404"/>
              </a:rPr>
              <a:t>t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return target uses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ourier New" panose="02070409020205090404"/>
              </a:rPr>
              <a:t>t + 5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Train, validation, and test sets are split by time.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Groups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10760" y="90000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Momentum: 1, 5, 21, and 63-day trailing returns.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Risk: rolling volatility and 63-day drawdown.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Volume: volume ratio and volume z-score.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Liquidity: log dollar volume.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Price behavior: daily range, gap return, open-to-close return.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Market context: SPY return and volatility when available.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Daily Returns Are Noisy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1" name="Picture 1" descr="../figures/eda_returns_distribution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2260440" y="1193760"/>
            <a:ext cx="460980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" name="TextBox 3"/>
          <p:cNvSpPr/>
          <p:nvPr/>
        </p:nvSpPr>
        <p:spPr>
          <a:xfrm>
            <a:off x="457200" y="4076640"/>
            <a:ext cx="82292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Distribution of daily returns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Momentum Test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1" descr="../figures/momentum_quintiles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4500000" y="1194120"/>
            <a:ext cx="460980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5" name="TextBox 3"/>
          <p:cNvSpPr/>
          <p:nvPr/>
        </p:nvSpPr>
        <p:spPr>
          <a:xfrm>
            <a:off x="4860000" y="4076640"/>
            <a:ext cx="38264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return by momentum quintile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0000" y="1105920"/>
            <a:ext cx="4320000" cy="375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lowest past-momentum quintile had the highest average future five-day return, suggesting short-term reversal was stronger than continuation momentum in this universe.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Results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Picture 1" descr="../figures/model_comparison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4390200" y="1193760"/>
            <a:ext cx="460980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" name="TextBox 3"/>
          <p:cNvSpPr/>
          <p:nvPr/>
        </p:nvSpPr>
        <p:spPr>
          <a:xfrm>
            <a:off x="4500000" y="4076640"/>
            <a:ext cx="450000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comparison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0760" y="1260000"/>
            <a:ext cx="4629240" cy="314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 ROC-AUC: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Logistic regression: 0.628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Histogram gradient boosting: 0.635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Random benchmark would be about 0.500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Backtest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2" name="Picture 1" descr="../figures/backtest_cumulative_returns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3780000" y="1190160"/>
            <a:ext cx="519408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" name="TextBox 3"/>
          <p:cNvSpPr/>
          <p:nvPr/>
        </p:nvSpPr>
        <p:spPr>
          <a:xfrm>
            <a:off x="4680000" y="4076640"/>
            <a:ext cx="40064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Backtest cumulative returns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0" y="1190160"/>
            <a:ext cx="426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Strategy: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Rank assets by predicted probability.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Select top 25.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Equal-weight portfolio.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Subtract 0.10% transaction cost.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Importance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Picture 1" descr="../figures/feature_importanc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5040000" y="1193760"/>
            <a:ext cx="3847680" cy="28825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" name="TextBox 3"/>
          <p:cNvSpPr/>
          <p:nvPr/>
        </p:nvSpPr>
        <p:spPr>
          <a:xfrm>
            <a:off x="5580000" y="4076640"/>
            <a:ext cx="31064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importance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90204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080000"/>
            <a:ext cx="3862800" cy="351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most important signals were market volatility, drawdown, rolling volatility, moving-average distance, and daily range.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Conclusion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Price and volume signals contain weak but measurable information about short-term relative performance.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But the project does not show an easy path to guaranteed trading profit: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Predictive signal is modest.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Active strategies had high volatility and large drawdowns.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market benchmark had the best Sharpe ratio.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Transaction costs and risk matter.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2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 and Next Steps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Dataset ends in 2017.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Possible survivorship bias.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fundamentals, sectors, macro data, or news.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Simplified transaction costs.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2900">
              <a:lnSpc>
                <a:spcPct val="100000"/>
              </a:lnSpc>
              <a:spcBef>
                <a:spcPts val="48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Next steps: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Add fundamentals and sector labels.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 through current data.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 walk-forward retraining.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2900" indent="-342900" algn="l" defTabSz="3429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9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Compare stocks and ETFs separately.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2746</Words>
  <Application>WPS 文字</Application>
  <PresentationFormat/>
  <Paragraphs>101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Helvetica Neue</vt:lpstr>
      <vt:lpstr>Times New Roman</vt:lpstr>
      <vt:lpstr>Arial</vt:lpstr>
      <vt:lpstr>Symbol</vt:lpstr>
      <vt:lpstr>Courier New</vt:lpstr>
      <vt:lpstr>微软雅黑</vt:lpstr>
      <vt:lpstr>汉仪旗黑</vt:lpstr>
      <vt:lpstr>宋体</vt:lpstr>
      <vt:lpstr>Arial Unicode MS</vt:lpstr>
      <vt:lpstr>Kingsoft Sign</vt:lpstr>
      <vt:lpstr>汉仪书宋二KW</vt:lpstr>
      <vt:lpstr>Calibri</vt:lpstr>
      <vt:lpstr>Office Theme</vt:lpstr>
      <vt:lpstr>Do Price and Volume Signals Predict Short-Term Stock Outperformance?</vt:lpstr>
      <vt:lpstr>Research Question</vt:lpstr>
      <vt:lpstr>Data</vt:lpstr>
      <vt:lpstr>Modeling Frame</vt:lpstr>
      <vt:lpstr>Feature Groups</vt:lpstr>
      <vt:lpstr>Daily Returns Are Noisy</vt:lpstr>
      <vt:lpstr>Momentum Test</vt:lpstr>
      <vt:lpstr>Model Results</vt:lpstr>
      <vt:lpstr>Backtest</vt:lpstr>
      <vt:lpstr>Feature Importance</vt:lpstr>
      <vt:lpstr>Main Conclusion</vt:lpstr>
      <vt:lpstr>Limitations and Next Steps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Price and Volume Signals Predict Short-Term Stock Outperformance?</dc:title>
  <dc:creator/>
  <cp:lastModifiedBy>liboyang</cp:lastModifiedBy>
  <cp:revision>2</cp:revision>
  <dcterms:created xsi:type="dcterms:W3CDTF">2026-05-08T06:26:40Z</dcterms:created>
  <dcterms:modified xsi:type="dcterms:W3CDTF">2026-05-08T06:26:40Z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DATA 498D Capstone Project</vt:lpwstr>
  </property>
  <property fmtid="{D5CDD505-2E9C-101B-9397-08002B2CF9AE}" pid="3" name="ICV">
    <vt:lpwstr>C38D3DB1557350CE2082FD691A028518_42</vt:lpwstr>
  </property>
  <property fmtid="{D5CDD505-2E9C-101B-9397-08002B2CF9AE}" pid="4" name="KSOProductBuildVer">
    <vt:lpwstr>2052-6.7.1.8828</vt:lpwstr>
  </property>
</Properties>
</file>